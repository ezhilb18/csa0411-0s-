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1" d="100"/>
          <a:sy n="71" d="100"/>
        </p:scale>
        <p:origin x="-456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139566" cy="20005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A315F"/>
                </a:solidFill>
                <a:latin typeface="Aptos Display"/>
              </a:defRPr>
            </a:pPr>
            <a:endParaRPr lang="en-US" dirty="0" smtClean="0"/>
          </a:p>
          <a:p>
            <a:pPr>
              <a:defRPr sz="3100" b="1">
                <a:solidFill>
                  <a:srgbClr val="0A315F"/>
                </a:solidFill>
                <a:latin typeface="Aptos Display"/>
              </a:defRPr>
            </a:pPr>
            <a:endParaRPr lang="en-US" dirty="0"/>
          </a:p>
          <a:p>
            <a:pPr>
              <a:defRPr sz="3100" b="1">
                <a:solidFill>
                  <a:srgbClr val="0A315F"/>
                </a:solidFill>
                <a:latin typeface="Aptos Display"/>
              </a:defRPr>
            </a:pPr>
            <a:r>
              <a:rPr dirty="0" smtClean="0"/>
              <a:t>Real-Time </a:t>
            </a:r>
            <a:r>
              <a:rPr dirty="0"/>
              <a:t>Operating System </a:t>
            </a:r>
            <a:endParaRPr lang="en-US" dirty="0" smtClean="0"/>
          </a:p>
          <a:p>
            <a:pPr>
              <a:defRPr sz="3100" b="1">
                <a:solidFill>
                  <a:srgbClr val="0A315F"/>
                </a:solidFill>
                <a:latin typeface="Aptos Display"/>
              </a:defRPr>
            </a:pPr>
            <a:r>
              <a:rPr dirty="0" smtClean="0"/>
              <a:t>(RTOS)</a:t>
            </a:r>
            <a:r>
              <a:rPr lang="en-US" dirty="0" smtClean="0"/>
              <a:t> </a:t>
            </a:r>
            <a:r>
              <a:rPr dirty="0" smtClean="0"/>
              <a:t>in </a:t>
            </a:r>
            <a:r>
              <a:rPr dirty="0"/>
              <a:t>Traffic Signal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43200"/>
            <a:ext cx="6492240" cy="2160591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1F2D3D"/>
                </a:solidFill>
                <a:latin typeface="Aptos"/>
              </a:defRPr>
            </a:pPr>
            <a:r>
              <a:rPr lang="en-US" dirty="0" smtClean="0"/>
              <a:t>                                                                 </a:t>
            </a:r>
          </a:p>
          <a:p>
            <a:pPr>
              <a:spcAft>
                <a:spcPts val="1500"/>
              </a:spcAft>
              <a:defRPr sz="1700">
                <a:solidFill>
                  <a:srgbClr val="1F2D3D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1500"/>
              </a:spcAft>
              <a:defRPr sz="1700">
                <a:solidFill>
                  <a:srgbClr val="1F2D3D"/>
                </a:solidFill>
                <a:latin typeface="Aptos"/>
              </a:defRPr>
            </a:pPr>
            <a:r>
              <a:rPr lang="en-US" b="1" dirty="0" smtClean="0"/>
              <a:t>                                                                Presented by :</a:t>
            </a:r>
          </a:p>
          <a:p>
            <a:pPr>
              <a:spcAft>
                <a:spcPts val="1500"/>
              </a:spcAft>
              <a:defRPr sz="1700">
                <a:solidFill>
                  <a:srgbClr val="1F2D3D"/>
                </a:solidFill>
                <a:latin typeface="Aptos"/>
              </a:defRPr>
            </a:pPr>
            <a:r>
              <a:rPr lang="en-US" b="1" dirty="0"/>
              <a:t> </a:t>
            </a:r>
            <a:r>
              <a:rPr lang="en-US" b="1" dirty="0" smtClean="0"/>
              <a:t>                                                                              </a:t>
            </a:r>
            <a:r>
              <a:rPr lang="en-US" b="1" dirty="0" err="1"/>
              <a:t>E</a:t>
            </a:r>
            <a:r>
              <a:rPr lang="en-US" b="1" dirty="0" err="1" smtClean="0"/>
              <a:t>zhilarasi</a:t>
            </a:r>
            <a:r>
              <a:rPr lang="en-US" b="1" dirty="0" smtClean="0"/>
              <a:t> B</a:t>
            </a:r>
          </a:p>
          <a:p>
            <a:pPr>
              <a:spcAft>
                <a:spcPts val="1500"/>
              </a:spcAft>
              <a:defRPr sz="1700">
                <a:solidFill>
                  <a:srgbClr val="1F2D3D"/>
                </a:solidFill>
                <a:latin typeface="Aptos"/>
              </a:defRPr>
            </a:pPr>
            <a:r>
              <a:rPr lang="en-US" b="1" dirty="0"/>
              <a:t> </a:t>
            </a:r>
            <a:r>
              <a:rPr lang="en-US" b="1" dirty="0" smtClean="0"/>
              <a:t>                                                                               192521428</a:t>
            </a:r>
            <a:endParaRPr b="1" dirty="0"/>
          </a:p>
        </p:txBody>
      </p:sp>
      <p:sp>
        <p:nvSpPr>
          <p:cNvPr id="5" name="Rounded Rectangle 4"/>
          <p:cNvSpPr/>
          <p:nvPr/>
        </p:nvSpPr>
        <p:spPr>
          <a:xfrm>
            <a:off x="7434072" y="1033271"/>
            <a:ext cx="4197096" cy="5157216"/>
          </a:xfrm>
          <a:prstGeom prst="roundRect">
            <a:avLst/>
          </a:prstGeom>
          <a:solidFill>
            <a:srgbClr val="FFFFFF"/>
          </a:solidFill>
          <a:ln>
            <a:solidFill>
              <a:srgbClr val="BE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traffic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072" y="968455"/>
            <a:ext cx="4309692" cy="52868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351153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 smtClean="0"/>
              <a:t> </a:t>
            </a:r>
            <a:r>
              <a:rPr dirty="0"/>
              <a:t>Introduction to RTOS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6126480" cy="507492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F2D3D"/>
                </a:solidFill>
                <a:latin typeface="Aptos"/>
              </a:defRPr>
            </a:pPr>
            <a:r>
              <a:t>1.  RTOS provides predictable and timely responses.</a:t>
            </a:r>
          </a:p>
          <a:p>
            <a:pPr>
              <a:spcAft>
                <a:spcPts val="1500"/>
              </a:spcAft>
              <a:defRPr sz="1900">
                <a:solidFill>
                  <a:srgbClr val="1F2D3D"/>
                </a:solidFill>
                <a:latin typeface="Aptos"/>
              </a:defRPr>
            </a:pPr>
            <a:r>
              <a:t>2.  It manages multiple tasks efficiently.</a:t>
            </a:r>
          </a:p>
          <a:p>
            <a:pPr>
              <a:spcAft>
                <a:spcPts val="1500"/>
              </a:spcAft>
              <a:defRPr sz="1900">
                <a:solidFill>
                  <a:srgbClr val="1F2D3D"/>
                </a:solidFill>
                <a:latin typeface="Aptos"/>
              </a:defRPr>
            </a:pPr>
            <a:r>
              <a:t>3.  It processes sensor inputs from roads.</a:t>
            </a:r>
          </a:p>
          <a:p>
            <a:pPr>
              <a:spcAft>
                <a:spcPts val="1500"/>
              </a:spcAft>
              <a:defRPr sz="1900">
                <a:solidFill>
                  <a:srgbClr val="1F2D3D"/>
                </a:solidFill>
                <a:latin typeface="Aptos"/>
              </a:defRPr>
            </a:pPr>
            <a:r>
              <a:t>4.  It controls traffic signals at the correct time.</a:t>
            </a:r>
          </a:p>
          <a:p>
            <a:pPr>
              <a:spcAft>
                <a:spcPts val="1500"/>
              </a:spcAft>
              <a:defRPr sz="1900">
                <a:solidFill>
                  <a:srgbClr val="1F2D3D"/>
                </a:solidFill>
                <a:latin typeface="Aptos"/>
              </a:defRPr>
            </a:pPr>
            <a:r>
              <a:t>5.  It supports reliable and continuous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25880"/>
            <a:ext cx="3337560" cy="640080"/>
          </a:xfrm>
          <a:prstGeom prst="roundRect">
            <a:avLst/>
          </a:prstGeom>
          <a:solidFill>
            <a:srgbClr val="0A31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RTOS CONTROLLER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2331720"/>
            <a:ext cx="1508760" cy="822960"/>
          </a:xfrm>
          <a:prstGeom prst="roundRect">
            <a:avLst/>
          </a:prstGeom>
          <a:solidFill>
            <a:srgbClr val="1970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Sensors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72600" y="2331720"/>
            <a:ext cx="1508760" cy="822960"/>
          </a:xfrm>
          <a:prstGeom prst="roundRect">
            <a:avLst/>
          </a:prstGeom>
          <a:solidFill>
            <a:srgbClr val="00A0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Traffic</a:t>
            </a:r>
            <a:br/>
            <a:r>
              <a:t>Lights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3657600"/>
            <a:ext cx="1508760" cy="822960"/>
          </a:xfrm>
          <a:prstGeom prst="roundRect">
            <a:avLst/>
          </a:prstGeom>
          <a:solidFill>
            <a:srgbClr val="EB911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Task</a:t>
            </a:r>
            <a:br/>
            <a:r>
              <a:t>Manager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72600" y="3657600"/>
            <a:ext cx="1508760" cy="822960"/>
          </a:xfrm>
          <a:prstGeom prst="roundRect">
            <a:avLst/>
          </a:prstGeom>
          <a:solidFill>
            <a:srgbClr val="734B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Timer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75320" y="2148840"/>
            <a:ext cx="137160" cy="182880"/>
          </a:xfrm>
          <a:prstGeom prst="line">
            <a:avLst/>
          </a:prstGeom>
          <a:ln w="25400">
            <a:solidFill>
              <a:srgbClr val="0A3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326880" y="2697480"/>
            <a:ext cx="45720" cy="0"/>
          </a:xfrm>
          <a:prstGeom prst="line">
            <a:avLst/>
          </a:prstGeom>
          <a:ln w="25400">
            <a:solidFill>
              <a:srgbClr val="0A3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75320" y="3154680"/>
            <a:ext cx="0" cy="502920"/>
          </a:xfrm>
          <a:prstGeom prst="line">
            <a:avLst/>
          </a:prstGeom>
          <a:ln w="25400">
            <a:solidFill>
              <a:srgbClr val="0A3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12680" y="3154680"/>
            <a:ext cx="0" cy="502920"/>
          </a:xfrm>
          <a:prstGeom prst="line">
            <a:avLst/>
          </a:prstGeom>
          <a:ln w="25400">
            <a:solidFill>
              <a:srgbClr val="0A3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rtos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4709160"/>
            <a:ext cx="292608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458196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 smtClean="0"/>
              <a:t> </a:t>
            </a:r>
            <a:r>
              <a:rPr dirty="0"/>
              <a:t>Type of OS and Justification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6492240" cy="507492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1F2D3D"/>
                </a:solidFill>
                <a:latin typeface="Aptos"/>
              </a:defRPr>
            </a:pPr>
            <a:r>
              <a:t>1.  A Real-Time Operating System (RTOS) is suitable for traffic control.</a:t>
            </a:r>
          </a:p>
          <a:p>
            <a:pPr>
              <a:spcAft>
                <a:spcPts val="1500"/>
              </a:spcAft>
              <a:defRPr sz="1800">
                <a:solidFill>
                  <a:srgbClr val="1F2D3D"/>
                </a:solidFill>
                <a:latin typeface="Aptos"/>
              </a:defRPr>
            </a:pPr>
            <a:r>
              <a:t>2.  It provides predictable response times.</a:t>
            </a:r>
          </a:p>
          <a:p>
            <a:pPr>
              <a:spcAft>
                <a:spcPts val="1500"/>
              </a:spcAft>
              <a:defRPr sz="1800">
                <a:solidFill>
                  <a:srgbClr val="1F2D3D"/>
                </a:solidFill>
                <a:latin typeface="Aptos"/>
              </a:defRPr>
            </a:pPr>
            <a:r>
              <a:t>3.  It supports priority-based task scheduling.</a:t>
            </a:r>
          </a:p>
          <a:p>
            <a:pPr>
              <a:spcAft>
                <a:spcPts val="1500"/>
              </a:spcAft>
              <a:defRPr sz="1800">
                <a:solidFill>
                  <a:srgbClr val="1F2D3D"/>
                </a:solidFill>
                <a:latin typeface="Aptos"/>
              </a:defRPr>
            </a:pPr>
            <a:r>
              <a:t>4.  It handles emergency vehicle signals quickly.</a:t>
            </a:r>
          </a:p>
          <a:p>
            <a:pPr>
              <a:spcAft>
                <a:spcPts val="1500"/>
              </a:spcAft>
              <a:defRPr sz="1800">
                <a:solidFill>
                  <a:srgbClr val="1F2D3D"/>
                </a:solidFill>
                <a:latin typeface="Aptos"/>
              </a:defRPr>
            </a:pPr>
            <a:r>
              <a:t>5.  It reduces delays and improves traffic management.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417320"/>
            <a:ext cx="3566160" cy="685800"/>
          </a:xfrm>
          <a:prstGeom prst="roundRect">
            <a:avLst/>
          </a:prstGeom>
          <a:solidFill>
            <a:srgbClr val="0A31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Why RTOS?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2423160"/>
            <a:ext cx="3566160" cy="685800"/>
          </a:xfrm>
          <a:prstGeom prst="roundRect">
            <a:avLst/>
          </a:prstGeom>
          <a:solidFill>
            <a:srgbClr val="1970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Predictable timing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3337560"/>
            <a:ext cx="3566160" cy="685800"/>
          </a:xfrm>
          <a:prstGeom prst="roundRect">
            <a:avLst/>
          </a:prstGeom>
          <a:solidFill>
            <a:srgbClr val="00A0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Priority scheduling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4251960"/>
            <a:ext cx="3566160" cy="685800"/>
          </a:xfrm>
          <a:prstGeom prst="roundRect">
            <a:avLst/>
          </a:prstGeom>
          <a:solidFill>
            <a:srgbClr val="EB911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Fast event response</a:t>
            </a:r>
          </a:p>
        </p:txBody>
      </p:sp>
      <p:pic>
        <p:nvPicPr>
          <p:cNvPr id="9" name="Picture 8" descr="intersection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5166360"/>
            <a:ext cx="3291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522611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 smtClean="0"/>
              <a:t>  </a:t>
            </a:r>
            <a:r>
              <a:rPr dirty="0"/>
              <a:t>OS Structure and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5669280" cy="507492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1F2D3D"/>
                </a:solidFill>
                <a:latin typeface="Aptos"/>
              </a:defRPr>
            </a:pPr>
            <a:r>
              <a:t>1.  Kernel: Manages system resources and tasks.</a:t>
            </a:r>
          </a:p>
          <a:p>
            <a:pPr>
              <a:spcAft>
                <a:spcPts val="1500"/>
              </a:spcAft>
              <a:defRPr sz="1800">
                <a:solidFill>
                  <a:srgbClr val="1F2D3D"/>
                </a:solidFill>
                <a:latin typeface="Aptos"/>
              </a:defRPr>
            </a:pPr>
            <a:r>
              <a:t>2.  Scheduler: Selects which task runs next.</a:t>
            </a:r>
          </a:p>
          <a:p>
            <a:pPr>
              <a:spcAft>
                <a:spcPts val="1500"/>
              </a:spcAft>
              <a:defRPr sz="1800">
                <a:solidFill>
                  <a:srgbClr val="1F2D3D"/>
                </a:solidFill>
                <a:latin typeface="Aptos"/>
              </a:defRPr>
            </a:pPr>
            <a:r>
              <a:t>3.  Interrupt Handler: Responds to sensor signals.</a:t>
            </a:r>
          </a:p>
          <a:p>
            <a:pPr>
              <a:spcAft>
                <a:spcPts val="1500"/>
              </a:spcAft>
              <a:defRPr sz="1800">
                <a:solidFill>
                  <a:srgbClr val="1F2D3D"/>
                </a:solidFill>
                <a:latin typeface="Aptos"/>
              </a:defRPr>
            </a:pPr>
            <a:r>
              <a:t>4.  Device Drivers: Control traffic lights and sensors.</a:t>
            </a:r>
          </a:p>
          <a:p>
            <a:pPr>
              <a:spcAft>
                <a:spcPts val="1500"/>
              </a:spcAft>
              <a:defRPr sz="1800">
                <a:solidFill>
                  <a:srgbClr val="1F2D3D"/>
                </a:solidFill>
                <a:latin typeface="Aptos"/>
              </a:defRPr>
            </a:pPr>
            <a:r>
              <a:t>5.  Timer: Maintains accurate signal durations.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20840" y="1234440"/>
            <a:ext cx="4251960" cy="594360"/>
          </a:xfrm>
          <a:prstGeom prst="roundRect">
            <a:avLst/>
          </a:prstGeom>
          <a:solidFill>
            <a:srgbClr val="1970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Applications / Tasks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993392"/>
            <a:ext cx="4251960" cy="594360"/>
          </a:xfrm>
          <a:prstGeom prst="roundRect">
            <a:avLst/>
          </a:prstGeom>
          <a:solidFill>
            <a:srgbClr val="734B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System Call Interface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2752344"/>
            <a:ext cx="4251960" cy="594360"/>
          </a:xfrm>
          <a:prstGeom prst="roundRect">
            <a:avLst/>
          </a:prstGeom>
          <a:solidFill>
            <a:srgbClr val="0A31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RTOS Kernel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3511296"/>
            <a:ext cx="1298448" cy="777240"/>
          </a:xfrm>
          <a:prstGeom prst="roundRect">
            <a:avLst/>
          </a:prstGeom>
          <a:solidFill>
            <a:srgbClr val="EB911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Scheduler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93024" y="3511296"/>
            <a:ext cx="1298448" cy="777240"/>
          </a:xfrm>
          <a:prstGeom prst="roundRect">
            <a:avLst/>
          </a:prstGeom>
          <a:solidFill>
            <a:srgbClr val="00A0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Interrupt</a:t>
            </a:r>
            <a:br/>
            <a:r>
              <a:t>Handler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65208" y="3511296"/>
            <a:ext cx="1298448" cy="777240"/>
          </a:xfrm>
          <a:prstGeom prst="roundRect">
            <a:avLst/>
          </a:prstGeom>
          <a:solidFill>
            <a:srgbClr val="DC46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Timer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4480560"/>
            <a:ext cx="4251960" cy="594360"/>
          </a:xfrm>
          <a:prstGeom prst="roundRect">
            <a:avLst/>
          </a:prstGeom>
          <a:solidFill>
            <a:srgbClr val="00A0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Device Drivers</a:t>
            </a:r>
          </a:p>
        </p:txBody>
      </p:sp>
      <p:pic>
        <p:nvPicPr>
          <p:cNvPr id="12" name="Picture 11" descr="architecture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5212080"/>
            <a:ext cx="283464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562044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 smtClean="0"/>
              <a:t>  System </a:t>
            </a:r>
            <a:r>
              <a:rPr dirty="0"/>
              <a:t>Calls for Process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6583680" cy="507492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1F2D3D"/>
                </a:solidFill>
                <a:latin typeface="Aptos"/>
              </a:defRPr>
            </a:pPr>
            <a:r>
              <a:t>1.  task_create() – Creates a new task.</a:t>
            </a:r>
          </a:p>
          <a:p>
            <a:pPr>
              <a:spcAft>
                <a:spcPts val="1500"/>
              </a:spcAft>
              <a:defRPr sz="1800">
                <a:solidFill>
                  <a:srgbClr val="1F2D3D"/>
                </a:solidFill>
                <a:latin typeface="Aptos"/>
              </a:defRPr>
            </a:pPr>
            <a:r>
              <a:t>2.  task_delete() – Deletes a task.</a:t>
            </a:r>
          </a:p>
          <a:p>
            <a:pPr>
              <a:spcAft>
                <a:spcPts val="1500"/>
              </a:spcAft>
              <a:defRPr sz="1800">
                <a:solidFill>
                  <a:srgbClr val="1F2D3D"/>
                </a:solidFill>
                <a:latin typeface="Aptos"/>
              </a:defRPr>
            </a:pPr>
            <a:r>
              <a:t>3.  task_suspend() – Temporarily pauses a task.</a:t>
            </a:r>
          </a:p>
          <a:p>
            <a:pPr>
              <a:spcAft>
                <a:spcPts val="1500"/>
              </a:spcAft>
              <a:defRPr sz="1800">
                <a:solidFill>
                  <a:srgbClr val="1F2D3D"/>
                </a:solidFill>
                <a:latin typeface="Aptos"/>
              </a:defRPr>
            </a:pPr>
            <a:r>
              <a:t>4.  task_resume() – Restarts a suspended task.</a:t>
            </a:r>
          </a:p>
          <a:p>
            <a:pPr>
              <a:spcAft>
                <a:spcPts val="1500"/>
              </a:spcAft>
              <a:defRPr sz="1800">
                <a:solidFill>
                  <a:srgbClr val="1F2D3D"/>
                </a:solidFill>
                <a:latin typeface="Aptos"/>
              </a:defRPr>
            </a:pPr>
            <a:r>
              <a:t>5.  task_yield() – Allows another ready task to run.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26679" y="1280160"/>
            <a:ext cx="3383280" cy="640080"/>
          </a:xfrm>
          <a:prstGeom prst="roundRect">
            <a:avLst/>
          </a:prstGeom>
          <a:solidFill>
            <a:srgbClr val="0A31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TASK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2103120"/>
            <a:ext cx="2834640" cy="512064"/>
          </a:xfrm>
          <a:prstGeom prst="roundRect">
            <a:avLst/>
          </a:prstGeom>
          <a:solidFill>
            <a:srgbClr val="1970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2816352"/>
            <a:ext cx="2834640" cy="512064"/>
          </a:xfrm>
          <a:prstGeom prst="roundRect">
            <a:avLst/>
          </a:prstGeom>
          <a:solidFill>
            <a:srgbClr val="EB911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3529584"/>
            <a:ext cx="2834640" cy="512064"/>
          </a:xfrm>
          <a:prstGeom prst="roundRect">
            <a:avLst/>
          </a:prstGeom>
          <a:solidFill>
            <a:srgbClr val="DC46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Suspend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4242816"/>
            <a:ext cx="2834640" cy="512064"/>
          </a:xfrm>
          <a:prstGeom prst="roundRect">
            <a:avLst/>
          </a:prstGeom>
          <a:solidFill>
            <a:srgbClr val="734B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Resume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4956048"/>
            <a:ext cx="2834640" cy="512064"/>
          </a:xfrm>
          <a:prstGeom prst="roundRect">
            <a:avLst/>
          </a:prstGeom>
          <a:solidFill>
            <a:srgbClr val="00A0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Yield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598932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6978"/>
                </a:solidFill>
              </a:defRPr>
            </a:pPr>
            <a:r>
              <a:t>Note: Names vary by RTOS.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606602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 smtClean="0"/>
              <a:t> </a:t>
            </a:r>
            <a:r>
              <a:rPr dirty="0"/>
              <a:t>Timing System Calls and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6583680" cy="507492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1F2D3D"/>
                </a:solidFill>
                <a:latin typeface="Aptos"/>
              </a:defRPr>
            </a:pPr>
            <a:r>
              <a:t>1.  sleep() – Delays a task for a specified time.</a:t>
            </a:r>
          </a:p>
          <a:p>
            <a:pPr>
              <a:spcAft>
                <a:spcPts val="1500"/>
              </a:spcAft>
              <a:defRPr sz="1800">
                <a:solidFill>
                  <a:srgbClr val="1F2D3D"/>
                </a:solidFill>
                <a:latin typeface="Aptos"/>
              </a:defRPr>
            </a:pPr>
            <a:r>
              <a:t>2.  timer_create() – Creates a timer.</a:t>
            </a:r>
          </a:p>
          <a:p>
            <a:pPr>
              <a:spcAft>
                <a:spcPts val="1500"/>
              </a:spcAft>
              <a:defRPr sz="1800">
                <a:solidFill>
                  <a:srgbClr val="1F2D3D"/>
                </a:solidFill>
                <a:latin typeface="Aptos"/>
              </a:defRPr>
            </a:pPr>
            <a:r>
              <a:t>3.  timer_start() – Starts the timer.</a:t>
            </a:r>
          </a:p>
          <a:p>
            <a:pPr>
              <a:spcAft>
                <a:spcPts val="1500"/>
              </a:spcAft>
              <a:defRPr sz="1800">
                <a:solidFill>
                  <a:srgbClr val="1F2D3D"/>
                </a:solidFill>
                <a:latin typeface="Aptos"/>
              </a:defRPr>
            </a:pPr>
            <a:r>
              <a:t>4.  clock_gettime() – Reads the system clock.</a:t>
            </a:r>
          </a:p>
          <a:p>
            <a:pPr>
              <a:spcAft>
                <a:spcPts val="1500"/>
              </a:spcAft>
              <a:defRPr sz="1800">
                <a:solidFill>
                  <a:srgbClr val="1F2D3D"/>
                </a:solidFill>
                <a:latin typeface="Aptos"/>
              </a:defRPr>
            </a:pPr>
            <a:r>
              <a:t>5.  delay_until() – Schedules a task at a specific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280160"/>
            <a:ext cx="3566160" cy="640080"/>
          </a:xfrm>
          <a:prstGeom prst="roundRect">
            <a:avLst/>
          </a:prstGeom>
          <a:solidFill>
            <a:srgbClr val="0A31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TIMING FUNCTIONS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2057400"/>
            <a:ext cx="3200400" cy="484632"/>
          </a:xfrm>
          <a:prstGeom prst="roundRect">
            <a:avLst/>
          </a:prstGeom>
          <a:solidFill>
            <a:srgbClr val="1970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sleep()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715768"/>
            <a:ext cx="3200400" cy="484632"/>
          </a:xfrm>
          <a:prstGeom prst="roundRect">
            <a:avLst/>
          </a:prstGeom>
          <a:solidFill>
            <a:srgbClr val="00A0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timer_create()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3374136"/>
            <a:ext cx="3200400" cy="484632"/>
          </a:xfrm>
          <a:prstGeom prst="roundRect">
            <a:avLst/>
          </a:prstGeom>
          <a:solidFill>
            <a:srgbClr val="EB911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timer_start()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4032504"/>
            <a:ext cx="3200400" cy="484632"/>
          </a:xfrm>
          <a:prstGeom prst="roundRect">
            <a:avLst/>
          </a:prstGeom>
          <a:solidFill>
            <a:srgbClr val="734B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clock_gettime()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4690872"/>
            <a:ext cx="3200400" cy="484632"/>
          </a:xfrm>
          <a:prstGeom prst="roundRect">
            <a:avLst/>
          </a:prstGeom>
          <a:solidFill>
            <a:srgbClr val="0091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delay_until()</a:t>
            </a:r>
          </a:p>
        </p:txBody>
      </p:sp>
      <p:pic>
        <p:nvPicPr>
          <p:cNvPr id="11" name="Picture 10" descr="timer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5440680"/>
            <a:ext cx="2468880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95160" y="635508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A6978"/>
                </a:solidFill>
              </a:defRPr>
            </a:pPr>
            <a:r>
              <a:t>Note: Exact API names depend on the RTOS.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osing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ED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257799" y="1051560"/>
            <a:ext cx="756172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0A315F"/>
                </a:solidFill>
                <a:latin typeface="Aptos Display"/>
              </a:defRPr>
            </a:pPr>
            <a:endParaRPr lang="en-US" dirty="0" smtClean="0"/>
          </a:p>
          <a:p>
            <a:pPr>
              <a:defRPr sz="4200" b="1">
                <a:solidFill>
                  <a:srgbClr val="0A315F"/>
                </a:solidFill>
                <a:latin typeface="Aptos Display"/>
              </a:defRPr>
            </a:pPr>
            <a:endParaRPr lang="en-US" dirty="0"/>
          </a:p>
          <a:p>
            <a:pPr>
              <a:defRPr sz="4200" b="1">
                <a:solidFill>
                  <a:srgbClr val="0A315F"/>
                </a:solidFill>
                <a:latin typeface="Aptos Display"/>
              </a:defRPr>
            </a:pPr>
            <a:endParaRPr lang="en-US" dirty="0"/>
          </a:p>
          <a:p>
            <a:pPr>
              <a:defRPr sz="4200" b="1">
                <a:solidFill>
                  <a:srgbClr val="0A315F"/>
                </a:solidFill>
                <a:latin typeface="Aptos Display"/>
              </a:defRPr>
            </a:pPr>
            <a:r>
              <a:rPr lang="en-US" dirty="0" smtClean="0"/>
              <a:t>             </a:t>
            </a:r>
            <a:r>
              <a:rPr dirty="0" smtClean="0"/>
              <a:t>Thank </a:t>
            </a:r>
            <a:r>
              <a:rPr dirty="0"/>
              <a:t>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6629400"/>
            <a:ext cx="7528255" cy="228600"/>
          </a:xfrm>
          <a:prstGeom prst="rect">
            <a:avLst/>
          </a:prstGeom>
          <a:solidFill>
            <a:srgbClr val="00A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366</Words>
  <Application>Microsoft Office PowerPoint</Application>
  <PresentationFormat>Custom</PresentationFormat>
  <Paragraphs>73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dc:description>generated using python-pptx</dc:description>
  <cp:lastModifiedBy>DELL</cp:lastModifiedBy>
  <cp:revision>2</cp:revision>
  <dcterms:created xsi:type="dcterms:W3CDTF">2013-01-27T09:14:16Z</dcterms:created>
  <dcterms:modified xsi:type="dcterms:W3CDTF">2026-10-26T16:07:15Z</dcterms:modified>
</cp:coreProperties>
</file>